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5E6C-1885-E587-98D3-1D1D16ABE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F34BE-1CC4-80E6-E94D-80C1100A2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082A-6D15-5006-6BE5-BF4F2F5C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1F6DF-CA93-F686-9A9E-2A3CF99C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75FA3-2ABD-D0FE-672D-62129B6B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124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34C8-8CCB-E706-CA70-96ED27E2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8501D-B4DB-F487-A79E-14FD5C59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65C8-A7B9-B309-1792-551615D4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66D4B-6444-2870-DECF-A5D6D963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45D6-D4A8-7A26-AA8E-D271DE0A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9970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E65E-CBB3-B071-3094-D46A5BC3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4DBAB-6720-FCF7-0BCF-FE9ED6C9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E566A-FFBD-1353-918D-F4231865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FFF5-D3BF-1344-7341-F6D25C18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5C2A-7F3D-2AD7-43A6-091DA10B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1862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864F-5883-5C85-46F2-3AD14949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FB1-76A9-A6AB-9C08-9177B240C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28FDE-30B2-1859-BD03-A05A7583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CDBA9-EF55-E1A9-3E1F-1B793758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D553C-42A8-912C-1B14-52D2615B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E9743-50D2-1922-F5B0-86D5997F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928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C9B6-4C90-1144-6003-6ABEDB59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02B8C-2E0B-1A15-49D6-C5E109A8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192B3-6CBF-58F4-B12A-44083D07B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EFDF7-396A-64A1-2914-537E5BB76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C445F-917E-B994-8D28-65892D2AF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EE6DD-C3AB-6E32-2EB7-3A101C96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38749-0D63-8B52-9543-136572B6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F7BAC-1E58-043B-D3CF-EAFBA4E7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9176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EA75-F9AB-0AB4-CC6F-6BE6730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2AC5B-DAB6-6F97-2909-C1BAD8FA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98FCA-4D47-58D3-A0CD-2F90076B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43FDA-1C4F-BFE5-094E-B0FAD759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21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F2658-48EA-F07B-4722-B632A269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0D1BD-7E62-0328-8789-1161936D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F67A-6EB5-ECC3-3CE2-23A95599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9537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8864-72B8-330A-16B4-E5638AB9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DD8D-1DBD-D6B6-9933-7816ADC7D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894E7-0942-9F88-81B4-153692B7B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51623-3AE5-6DA5-1ACA-F83C68EC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C59C0-9790-FF45-51DC-243AF1EC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FF58A-FF8A-F08D-BA3E-5DB606B9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1774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4E9E-574D-E146-1FDE-A7F10C86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DA1A6-300F-6347-3E6A-BF0D4C0B6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D5B3-7F93-B320-CED2-AD5DDA691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4249A-91A9-8F52-1045-FDC35EEB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46C06-E5C1-01CA-F00B-491F691A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1DD16-200F-6176-FBA5-FEBC1AA5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0887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C67D-1B92-B833-F7A3-6DD1F438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ABCAF-BDCF-2AC0-3952-6A7965503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E86D-084E-5EB5-0DF3-E92A6A8A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59275-4141-6965-BA99-1C3D10A5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DD42A-C9E8-75E4-380A-8CDB4A4C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788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D3206-C28D-7719-D102-24763E794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B07DD-A7BA-AA5B-8156-9B1BAD99F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934B9-68B4-50C9-7CF5-18B15E53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D4D69-26C0-FC66-1E08-DA4711A6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08F2-09A9-1948-5339-28566F24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0910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C803E-EE4B-FC86-647A-A0561D19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41E51-D0D3-3CDF-C4B4-26C80D8A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EEF4-6B80-2140-487C-82021DDA2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89AC8-5E54-487D-8D67-252D6EDEFB25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3C71-63FF-67E2-DF0E-BD2B71693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EF2BC-27F9-9741-88FF-837148688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1C8CB-333F-471C-B390-80F2DE7631F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6724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7EA1A888-A681-D293-F611-1C9D79B33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 </a:t>
            </a:r>
            <a:endParaRPr lang="en-AE" sz="5200">
              <a:solidFill>
                <a:schemeClr val="tx2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727AFD-CE99-2014-F9C4-BD12E5ED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Customer Churn</a:t>
            </a:r>
            <a:endParaRPr lang="en-AE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594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99073-872B-0E20-53CE-91558BD1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C28234-F945-BCDD-8B4D-F778623FD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621402"/>
              </p:ext>
            </p:extLst>
          </p:nvPr>
        </p:nvGraphicFramePr>
        <p:xfrm>
          <a:off x="1394555" y="2011363"/>
          <a:ext cx="9402892" cy="416084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361783">
                  <a:extLst>
                    <a:ext uri="{9D8B030D-6E8A-4147-A177-3AD203B41FA5}">
                      <a16:colId xmlns:a16="http://schemas.microsoft.com/office/drawing/2014/main" val="1537928636"/>
                    </a:ext>
                  </a:extLst>
                </a:gridCol>
                <a:gridCol w="3519430">
                  <a:extLst>
                    <a:ext uri="{9D8B030D-6E8A-4147-A177-3AD203B41FA5}">
                      <a16:colId xmlns:a16="http://schemas.microsoft.com/office/drawing/2014/main" val="3894130129"/>
                    </a:ext>
                  </a:extLst>
                </a:gridCol>
                <a:gridCol w="3521679">
                  <a:extLst>
                    <a:ext uri="{9D8B030D-6E8A-4147-A177-3AD203B41FA5}">
                      <a16:colId xmlns:a16="http://schemas.microsoft.com/office/drawing/2014/main" val="3254455837"/>
                    </a:ext>
                  </a:extLst>
                </a:gridCol>
              </a:tblGrid>
              <a:tr h="59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Finding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Business Recommendation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327418"/>
                  </a:ext>
                </a:extLst>
              </a:tr>
              <a:tr h="59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Overall Churn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26.54% customers churned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Focus on retention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20639"/>
                  </a:ext>
                </a:extLst>
              </a:tr>
              <a:tr h="89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Contract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Month-to-month = 42.71%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Encourage long-term contracts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51744"/>
                  </a:ext>
                </a:extLst>
              </a:tr>
              <a:tr h="59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Internet Service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Fiber = 41.89%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Investigate Fiber segment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88733"/>
                  </a:ext>
                </a:extLst>
              </a:tr>
              <a:tr h="89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Payment Method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Electronic Check = 45.29%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Investigate payment experience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0505"/>
                  </a:ext>
                </a:extLst>
              </a:tr>
              <a:tr h="59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Tech Support</a:t>
                      </a:r>
                    </a:p>
                  </a:txBody>
                  <a:tcPr marL="168320" marR="129477" marT="129477" marB="1294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No Support = 41.64%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000" cap="none" spc="0">
                          <a:solidFill>
                            <a:schemeClr val="tx1"/>
                          </a:solidFill>
                        </a:rPr>
                        <a:t>Investigate support impact</a:t>
                      </a:r>
                    </a:p>
                  </a:txBody>
                  <a:tcPr marL="168320" marR="129477" marT="129477" marB="129477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652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17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Harbi</dc:creator>
  <cp:lastModifiedBy>Ibrahim Harbi</cp:lastModifiedBy>
  <cp:revision>1</cp:revision>
  <dcterms:created xsi:type="dcterms:W3CDTF">2026-09-03T13:22:21Z</dcterms:created>
  <dcterms:modified xsi:type="dcterms:W3CDTF">2026-09-03T13:27:58Z</dcterms:modified>
</cp:coreProperties>
</file>